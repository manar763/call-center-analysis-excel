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aladea" panose="020B0604020202020204" charset="0"/>
      <p:regular r:id="rId18"/>
    </p:embeddedFont>
    <p:embeddedFont>
      <p:font typeface="Caladea Bold" panose="020B0604020202020204" charset="0"/>
      <p:regular r:id="rId19"/>
    </p:embeddedFont>
    <p:embeddedFont>
      <p:font typeface="Carlito" panose="020B0604020202020204" charset="0"/>
      <p:regular r:id="rId20"/>
    </p:embeddedFont>
    <p:embeddedFont>
      <p:font typeface="Carlito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96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28" y="1417241"/>
            <a:ext cx="4023220" cy="4023320"/>
          </a:xfrm>
          <a:prstGeom prst="ellipse">
            <a:avLst/>
          </a:prstGeom>
          <a:noFill/>
          <a:ln w="12700">
            <a:solidFill>
              <a:srgbClr val="6FD6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034829" y="594320"/>
            <a:ext cx="5669118" cy="5669260"/>
          </a:xfrm>
          <a:prstGeom prst="ellipse">
            <a:avLst/>
          </a:prstGeom>
          <a:noFill/>
          <a:ln w="1270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211930" y="-228600"/>
            <a:ext cx="7315017" cy="731520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388931" y="-1051520"/>
            <a:ext cx="8960816" cy="8961041"/>
          </a:xfrm>
          <a:prstGeom prst="ellipse">
            <a:avLst/>
          </a:prstGeom>
          <a:noFill/>
          <a:ln w="12700">
            <a:solidFill>
              <a:srgbClr val="1C729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320772" y="2880320"/>
            <a:ext cx="1097233" cy="10972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320772" y="3035796"/>
            <a:ext cx="1097233" cy="5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☎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44" y="202813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CALL CENTER 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44" y="2560241"/>
            <a:ext cx="7315017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kern="0" spc="44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Call Center KPIs: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kern="0" spc="44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Measuring What Matters Most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44" y="4298950"/>
            <a:ext cx="689205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D6E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comprehensive guide to Call Center Key Performance Indicators — the metrics that drive faster service, happier customers, and a leaner operation.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44" y="5074841"/>
            <a:ext cx="3529420" cy="383977"/>
          </a:xfrm>
          <a:prstGeom prst="roundRect">
            <a:avLst>
              <a:gd name="adj" fmla="val 49999"/>
            </a:avLst>
          </a:prstGeom>
          <a:solidFill>
            <a:srgbClr val="6FD6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5252" y="5172869"/>
            <a:ext cx="413900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CALL CENTER ANALYTICS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419" y="5074841"/>
            <a:ext cx="3236832" cy="383977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047627" y="5172869"/>
            <a:ext cx="384641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E7E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CUSTOMER EXPERIENCE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206" y="5074841"/>
            <a:ext cx="2944243" cy="383977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467413" y="5172869"/>
            <a:ext cx="355382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E7EC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AGENT PERFORMANCE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44" y="6245820"/>
            <a:ext cx="792460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by  Manar Sobhy   ·   Ziad Gamal   ·   Mostafa Belal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51941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DOMAIN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95437"/>
            <a:ext cx="1051533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33" dirty="0">
                <a:solidFill>
                  <a:srgbClr val="13293D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Introduction to the Call Center Domain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44" y="1479550"/>
            <a:ext cx="10458188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call center is the operational hub where customer interactions — inbound and outbound — are handled at scale. It is the front line of customer experience, and its performance directly shapes retention, brand trust, and revenue.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44" y="2331641"/>
            <a:ext cx="2487054" cy="1508720"/>
          </a:xfrm>
          <a:prstGeom prst="roundRect">
            <a:avLst>
              <a:gd name="adj" fmla="val 7273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41156" y="2532856"/>
            <a:ext cx="457189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156" y="2555677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156" y="3124696"/>
            <a:ext cx="269431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Inbound Support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156" y="3415010"/>
            <a:ext cx="202758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Handling customer-initiated calls for help, inquiries, and issue resolution.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176" y="2331641"/>
            <a:ext cx="2487054" cy="1508720"/>
          </a:xfrm>
          <a:prstGeom prst="roundRect">
            <a:avLst>
              <a:gd name="adj" fmla="val 7273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584287" y="2532856"/>
            <a:ext cx="457189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584287" y="2555677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4287" y="3124696"/>
            <a:ext cx="269431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Outbound Campaigns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84287" y="3415010"/>
            <a:ext cx="202758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calls for sales, surveys, collections, and follow-ups.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307" y="2331641"/>
            <a:ext cx="2487054" cy="1508720"/>
          </a:xfrm>
          <a:prstGeom prst="roundRect">
            <a:avLst>
              <a:gd name="adj" fmla="val 7273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27418" y="2532856"/>
            <a:ext cx="457189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327418" y="2555677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7418" y="3124696"/>
            <a:ext cx="269431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Customer Service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7418" y="3415010"/>
            <a:ext cx="2027584" cy="551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Managing satisfaction, complaints, and the overall customer relationship.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438" y="2331641"/>
            <a:ext cx="2487054" cy="1508720"/>
          </a:xfrm>
          <a:prstGeom prst="roundRect">
            <a:avLst>
              <a:gd name="adj" fmla="val 7273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070550" y="2532856"/>
            <a:ext cx="457189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070550" y="2555677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70550" y="3124696"/>
            <a:ext cx="269431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Workforce &amp; Ops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70550" y="3415010"/>
            <a:ext cx="202758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Scheduling agents, routing calls, and managing queues and staffing.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44" y="4251920"/>
            <a:ext cx="10515337" cy="1417241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960017" y="4485580"/>
            <a:ext cx="335271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017" y="4954191"/>
            <a:ext cx="9818045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4F0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call is a data point. Speed of answer, resolution outcome, agent talk time, and customer rating all combine to reveal how well the center is truly performing — and where it needs to improve.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51941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810716"/>
            <a:ext cx="10515337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31" dirty="0">
                <a:solidFill>
                  <a:srgbClr val="13293D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The Importance of Data Analysis in Call Centers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44" y="1525191"/>
            <a:ext cx="10458188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call centers no longer manage by gut feel. Call center analytics turns millions of call records into actionable intelligence — shorter waits, higher resolution, and better staffing.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44" y="2331641"/>
            <a:ext cx="5029074" cy="3429000"/>
          </a:xfrm>
          <a:prstGeom prst="roundRect">
            <a:avLst>
              <a:gd name="adj" fmla="val 384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017" y="2660650"/>
            <a:ext cx="499851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Call Centers Need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017" y="3163788"/>
            <a:ext cx="118861" cy="118864"/>
          </a:xfrm>
          <a:prstGeom prst="ellipse">
            <a:avLst/>
          </a:prstGeom>
          <a:solidFill>
            <a:srgbClr val="6FD6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06966" y="3059906"/>
            <a:ext cx="414892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Faster decisions  </a:t>
            </a: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replace guesswork with evidence from every call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017" y="3758109"/>
            <a:ext cx="118861" cy="118864"/>
          </a:xfrm>
          <a:prstGeom prst="ellipse">
            <a:avLst/>
          </a:prstGeom>
          <a:solidFill>
            <a:srgbClr val="6FD6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06966" y="3654227"/>
            <a:ext cx="414892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Better service  </a:t>
            </a: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spot bottlenecks in queues and routing before they escalate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017" y="4352528"/>
            <a:ext cx="118861" cy="118864"/>
          </a:xfrm>
          <a:prstGeom prst="ellipse">
            <a:avLst/>
          </a:prstGeom>
          <a:solidFill>
            <a:srgbClr val="6FD6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06966" y="4248646"/>
            <a:ext cx="414892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Lower costs  </a:t>
            </a: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right-size staffing against real call volume and peak hours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017" y="4946848"/>
            <a:ext cx="118861" cy="118864"/>
          </a:xfrm>
          <a:prstGeom prst="ellipse">
            <a:avLst/>
          </a:prstGeom>
          <a:solidFill>
            <a:srgbClr val="6FD6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06966" y="4842966"/>
            <a:ext cx="414892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Higher retention  </a:t>
            </a: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flag unhappy customers and at-risk agents early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97713" y="2331641"/>
            <a:ext cx="5257668" cy="3429000"/>
          </a:xfrm>
          <a:prstGeom prst="roundRect">
            <a:avLst>
              <a:gd name="adj" fmla="val 3840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217685" y="2660650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What Is Call Center Analytics?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685" y="3163491"/>
            <a:ext cx="4606115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practice of collecting, analyzing, and reporting call data to improve service and efficiency. It spans three maturity levels: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685" y="3895030"/>
            <a:ext cx="5272849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Descriptive  </a:t>
            </a: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What happened? (call volumes, wait times)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685" y="4397970"/>
            <a:ext cx="5272849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Predictive  </a:t>
            </a: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What will happen? (forecasted peak hours)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685" y="4900910"/>
            <a:ext cx="5272849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Prescriptive  </a:t>
            </a: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What should we do? (staffing &amp; routing changes)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51941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95437"/>
            <a:ext cx="1051533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33" dirty="0">
                <a:solidFill>
                  <a:srgbClr val="13293D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What Are Call Center KPIs?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44" y="1600200"/>
            <a:ext cx="3346565" cy="2286000"/>
          </a:xfrm>
          <a:prstGeom prst="roundRect">
            <a:avLst>
              <a:gd name="adj" fmla="val 4800"/>
            </a:avLst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96022" y="1887141"/>
            <a:ext cx="3444094" cy="25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Defining KPIs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022" y="2637730"/>
            <a:ext cx="2777361" cy="840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Performance Indicators (KPIs) are quantifiable measures used to judge how well a call center is achieving its service and efficiency goals.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24331" y="1600200"/>
            <a:ext cx="3346565" cy="2286000"/>
          </a:xfrm>
          <a:prstGeom prst="roundRect">
            <a:avLst>
              <a:gd name="adj" fmla="val 4800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80408" y="1887141"/>
            <a:ext cx="3444094" cy="25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KPIs vs. Metrics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408" y="2729210"/>
            <a:ext cx="2777361" cy="63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track any activity (e.g., total calls). KPIs are the curated subset tied directly to strategic goals — not every metric is a KPI.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08717" y="1600200"/>
            <a:ext cx="3346565" cy="2286000"/>
          </a:xfrm>
          <a:prstGeom prst="roundRect">
            <a:avLst>
              <a:gd name="adj" fmla="val 4800"/>
            </a:avLst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064794" y="1887141"/>
            <a:ext cx="3444094" cy="25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KPIs Matter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64794" y="2729210"/>
            <a:ext cx="2777361" cy="840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They give operations and leadership a shared language, enabling accountability and early warning before service quality slips.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44" y="4160441"/>
            <a:ext cx="10515337" cy="1005780"/>
          </a:xfrm>
          <a:prstGeom prst="roundRect">
            <a:avLst>
              <a:gd name="adj" fmla="val 10909"/>
            </a:avLst>
          </a:prstGeom>
          <a:solidFill>
            <a:srgbClr val="EAF4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60017" y="4455914"/>
            <a:ext cx="9818045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ⓘ  </a:t>
            </a:r>
            <a:r>
              <a:rPr lang="en-US" sz="13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There are three main categories of call center KPIs: </a:t>
            </a:r>
            <a:r>
              <a:rPr lang="en-US" sz="130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Data-based</a:t>
            </a:r>
            <a:r>
              <a:rPr lang="en-US" sz="13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(calculated from call logs), </a:t>
            </a:r>
            <a:r>
              <a:rPr lang="en-US" sz="130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Survey-based</a:t>
            </a:r>
            <a:r>
              <a:rPr lang="en-US" sz="13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(from customer feedback), and </a:t>
            </a:r>
            <a:r>
              <a:rPr lang="en-US" sz="130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Hybrid</a:t>
            </a:r>
            <a:r>
              <a:rPr lang="en-US" sz="13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(combining both).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#1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776464"/>
            <a:ext cx="332602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Answered vs. Missed Call Rate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Measures the share of incoming calls the center successfully answers versus loses to abandonment or unavailability. It is the first signal of capacity health.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Missed calls mean lost revenue and frustrated 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151287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direct measure of staffing adequacy against call volume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392856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Trends reveal peak-hour coverage gaps early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Answered Rate = (Answered Calls ÷ Total Calls) ×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318000"/>
            <a:ext cx="286883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healthy answered rate is generally 90%+. Rates below 80% signal understaffing or routing issues at peak hours.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#2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776464"/>
            <a:ext cx="3383176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First Call Resolution (FCR)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Call Resolution tracks the percentage of customer issues fully resolved during the very first contact, with no follow-up or transfer required.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Repeat contacts frustrate customers and inflate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151287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FCR is the strongest driver of satisfaction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4012406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 FCR flags knowledge or training gaps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FCR = (Issues Resolved on First Contact ÷ Total Calls) ×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318000"/>
            <a:ext cx="286883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Top-performing centers achieve 70-75% FCR. Every 1% improvement typically cuts repeat-call volume noticeably.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#3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776464"/>
            <a:ext cx="332602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Average Speed of Answer (ASA)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ASA is the average time a caller waits in queue before reaching an agent. It is one of the most closely watched efficiency metrics in the industry.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 waits are the #1 cause of call abandonment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235127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Directly shapes the caller's first impression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392856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Tracked live to trigger real-time staffing 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ASA = Total Wait Time ÷ Total Answered Calls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318000"/>
            <a:ext cx="286883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benchmark is 20-30 seconds. Waits beyond 60 seconds sharply increase abandonment risk.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#4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776464"/>
            <a:ext cx="332602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Average Handle Time (AHT)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AHT captures the full duration of a customer interaction — talk time, hold time, and after-call wrap-up — per call handled.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Balances efficiency against thoroughness of 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235127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 low can mean rushed, unresolved calls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392856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input for staffing and scheduling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AHT = (Talk Time + Hold Time + After-Call Work) ÷ Calls Handled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318000"/>
            <a:ext cx="286883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AHT ranges 4-6 minutes depending on call complexity. Track by call type for accurate benchmarks.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#5 — SURVEY-BASED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776464"/>
            <a:ext cx="332602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Customer Satisfaction (CSAT)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CSAT measures how satisfied customers are with a specific interaction, usually captured through a brief post-call rating.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457946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 voice-of-customer feedback per 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235127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Leading indicator of loyalty and churn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392856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Highlights agents and teams needing coaching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CSAT = (Positive Ratings ÷ Total Ratings) ×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318000"/>
            <a:ext cx="286883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Scores above 80% are considered strong. Segment by agent and department to target coaching.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#6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968452"/>
            <a:ext cx="338317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Call Abandonment Rate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Abandonment Rate tracks the share of callers who hang up before reaching an agent — the direct cost of long queues.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abandoned call is a missed service opportunity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151287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Rises sharply once wait time passes customer tolerance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4012406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leading warning sign of capacity shortfall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Abandonment Rate = (Abandoned Calls ÷ Total Incoming Calls) ×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405610"/>
            <a:ext cx="286883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healthy rate stays under 5%. Rates above 10% warrant urgent staffing or routing review.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#7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968452"/>
            <a:ext cx="338317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Agent Occupancy Rate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Occupancy measures the share of an agent's logged-in time spent actively handling calls versus waiting for the next 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Balances agent workload against burnout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151287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 high sustained occupancy erodes quality and morale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4012406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Informs fair scheduling and shift planning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Occupancy = Handle Time ÷ (Handle Time + Available Time) ×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405610"/>
            <a:ext cx="286883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sustainable range is 80-85%. Consistently above 90% is a strong burnout warning sign.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075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33" y="1005780"/>
            <a:ext cx="2011610" cy="2011660"/>
          </a:xfrm>
          <a:prstGeom prst="ellipse">
            <a:avLst/>
          </a:prstGeom>
          <a:noFill/>
          <a:ln w="12700">
            <a:solidFill>
              <a:srgbClr val="6FD6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189" y="365720"/>
            <a:ext cx="3291698" cy="3291780"/>
          </a:xfrm>
          <a:prstGeom prst="ellipse">
            <a:avLst/>
          </a:prstGeom>
          <a:noFill/>
          <a:ln w="12700">
            <a:solidFill>
              <a:srgbClr val="6FD6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182856" y="-274241"/>
            <a:ext cx="4571886" cy="4572000"/>
          </a:xfrm>
          <a:prstGeom prst="ellipse">
            <a:avLst/>
          </a:prstGeom>
          <a:noFill/>
          <a:ln w="12700">
            <a:solidFill>
              <a:srgbClr val="6FD6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691538" y="1600200"/>
            <a:ext cx="822900" cy="82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538" y="1722537"/>
            <a:ext cx="82290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189" y="3017441"/>
            <a:ext cx="3291698" cy="383977"/>
          </a:xfrm>
          <a:prstGeom prst="roundRect">
            <a:avLst>
              <a:gd name="adj" fmla="val 4999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396" y="3111698"/>
            <a:ext cx="39012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KPI #8 — DATA-BASED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9" y="3968452"/>
            <a:ext cx="338317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26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Service Level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1886" y="816570"/>
            <a:ext cx="6526347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Level is the percentage of calls answered within a defined target time — the industry's classic responsiveness benchmark.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1886" y="1691580"/>
            <a:ext cx="3063104" cy="3566120"/>
          </a:xfrm>
          <a:prstGeom prst="roundRect">
            <a:avLst>
              <a:gd name="adj" fmla="val 3582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27864" y="1945084"/>
            <a:ext cx="3261239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27864" y="2340769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074" y="2374106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most-quoted metric in vendor and client SLAs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27864" y="311804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074" y="3151287"/>
            <a:ext cx="2411650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Balances staffing cost against customer expectations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7864" y="3895328"/>
            <a:ext cx="91378" cy="913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074" y="4012406"/>
            <a:ext cx="307838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Tracked in real time to trigger escalations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7845" y="1691580"/>
            <a:ext cx="3337437" cy="1691580"/>
          </a:xfrm>
          <a:prstGeom prst="roundRect">
            <a:avLst>
              <a:gd name="adj" fmla="val 648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439" y="191383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439" y="2487216"/>
            <a:ext cx="28688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Service Level = (Calls Answered Within Target ÷ Total Calls) ×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7845" y="3566120"/>
            <a:ext cx="3337437" cy="1691580"/>
          </a:xfrm>
          <a:prstGeom prst="roundRect">
            <a:avLst>
              <a:gd name="adj" fmla="val 6487"/>
            </a:avLst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46439" y="3788370"/>
            <a:ext cx="353557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439" y="4405610"/>
            <a:ext cx="286883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classic industry target is 80/20: 80% of calls answered within 20 seconds.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51941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BRINGING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95437"/>
            <a:ext cx="1051533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33" dirty="0">
                <a:solidFill>
                  <a:srgbClr val="13293D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KPI Classification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44" y="1426766"/>
            <a:ext cx="1045818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Call center KPIs are not one-size-fits-all. Knowing which category each belongs to helps teams design the right measurement systems and interpret results correctly.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44" y="2103041"/>
            <a:ext cx="3346565" cy="1325860"/>
          </a:xfrm>
          <a:prstGeom prst="roundRect">
            <a:avLst>
              <a:gd name="adj" fmla="val 8276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41156" y="2286000"/>
            <a:ext cx="383967" cy="383977"/>
          </a:xfrm>
          <a:prstGeom prst="roundRect">
            <a:avLst>
              <a:gd name="adj" fmla="val 2286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156" y="2808387"/>
            <a:ext cx="355382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Answered / Missed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156" y="3123109"/>
            <a:ext cx="355382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CALCULATED FROM CALL LOGS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24331" y="2103041"/>
            <a:ext cx="3346565" cy="1325860"/>
          </a:xfrm>
          <a:prstGeom prst="roundRect">
            <a:avLst>
              <a:gd name="adj" fmla="val 8276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25542" y="2286000"/>
            <a:ext cx="383967" cy="383977"/>
          </a:xfrm>
          <a:prstGeom prst="roundRect">
            <a:avLst>
              <a:gd name="adj" fmla="val 228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25542" y="2808387"/>
            <a:ext cx="355382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Service Level &amp; ASA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542" y="3123109"/>
            <a:ext cx="355382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DERIVED FROM QUEUE 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08717" y="2103041"/>
            <a:ext cx="3346565" cy="1325860"/>
          </a:xfrm>
          <a:prstGeom prst="roundRect">
            <a:avLst>
              <a:gd name="adj" fmla="val 8276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009928" y="2286000"/>
            <a:ext cx="383967" cy="383977"/>
          </a:xfrm>
          <a:prstGeom prst="roundRect">
            <a:avLst>
              <a:gd name="adj" fmla="val 2286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009928" y="2808387"/>
            <a:ext cx="355382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CSAT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9928" y="3123109"/>
            <a:ext cx="355382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DERIVED FROM POST-CALL SURVEYS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44" y="3666728"/>
            <a:ext cx="3346565" cy="1325860"/>
          </a:xfrm>
          <a:prstGeom prst="roundRect">
            <a:avLst>
              <a:gd name="adj" fmla="val 8276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41156" y="3849588"/>
            <a:ext cx="383967" cy="383977"/>
          </a:xfrm>
          <a:prstGeom prst="roundRect">
            <a:avLst>
              <a:gd name="adj" fmla="val 228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41156" y="4372074"/>
            <a:ext cx="355382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Abandonment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156" y="4686796"/>
            <a:ext cx="355382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CALCULATED FROM CALL LOGS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24331" y="3666728"/>
            <a:ext cx="3346565" cy="1325860"/>
          </a:xfrm>
          <a:prstGeom prst="roundRect">
            <a:avLst>
              <a:gd name="adj" fmla="val 8276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425542" y="3849588"/>
            <a:ext cx="383967" cy="383977"/>
          </a:xfrm>
          <a:prstGeom prst="roundRect">
            <a:avLst>
              <a:gd name="adj" fmla="val 2286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425542" y="4372074"/>
            <a:ext cx="355382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Agent Occupancy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25542" y="4686796"/>
            <a:ext cx="355382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CALCULATED FROM WORKFORCE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08717" y="3666728"/>
            <a:ext cx="3346565" cy="1325860"/>
          </a:xfrm>
          <a:prstGeom prst="roundRect">
            <a:avLst>
              <a:gd name="adj" fmla="val 8276"/>
            </a:avLst>
          </a:prstGeom>
          <a:solidFill>
            <a:srgbClr val="EAF4F6"/>
          </a:solidFill>
          <a:ln/>
          <a:effectLst>
            <a:outerShdw blurRad="100330" dist="36830" dir="5400000" algn="bl" rotWithShape="0">
              <a:srgbClr val="0B2545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009928" y="3849588"/>
            <a:ext cx="383967" cy="383977"/>
          </a:xfrm>
          <a:prstGeom prst="roundRect">
            <a:avLst>
              <a:gd name="adj" fmla="val 228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009928" y="4372074"/>
            <a:ext cx="355382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3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FCR &amp; AHT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09928" y="4686796"/>
            <a:ext cx="3553828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COMBINES CALL DATA WITH QA REVIEW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44" y="6299200"/>
            <a:ext cx="11124922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balanced measurement strategy blends quantitative call data for precision, survey data for the customer's voice, and hybrid measures for a complete picture of service quality.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56515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914400"/>
            <a:ext cx="10058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33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Conclusion: The Power of Call Center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44" y="1920180"/>
            <a:ext cx="457189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44" y="1979414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27" y="1921470"/>
            <a:ext cx="97533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Measure What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27" y="2455664"/>
            <a:ext cx="99362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Call center KPIs turn raw call logs into quantifiable outcomes — letting operations speak the language of the business: speed, quality, and cost.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44" y="3154660"/>
            <a:ext cx="457189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44" y="3213795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27" y="3155950"/>
            <a:ext cx="97533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Combine Data + Customer Voice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27" y="3690045"/>
            <a:ext cx="99362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strongest strategies blend hard metrics (ASA, AHT, occupancy) with human-centered data (CSAT) for a complete view of service health.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44" y="4389041"/>
            <a:ext cx="457189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44" y="4448274"/>
            <a:ext cx="4571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27" y="4390330"/>
            <a:ext cx="97533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FD6C4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Analytics Is a Competitive Edge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27" y="4924524"/>
            <a:ext cx="99362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9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Centers that embrace analytics resolve issues faster, retain more customers, and run leaner operations than peers relying on instinct alone.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44" y="5806380"/>
            <a:ext cx="10515337" cy="640060"/>
          </a:xfrm>
          <a:prstGeom prst="roundRect">
            <a:avLst>
              <a:gd name="adj" fmla="val 17143"/>
            </a:avLst>
          </a:prstGeom>
          <a:solidFill>
            <a:srgbClr val="12365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5252" y="6013450"/>
            <a:ext cx="11124922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by  Manar Sobhy   ·   Ziad Gamal   ·   Mostafa Belal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519410"/>
            <a:ext cx="426709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95437"/>
            <a:ext cx="1051533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33" dirty="0">
                <a:solidFill>
                  <a:srgbClr val="13293D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References &amp; Trusted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44" y="1490960"/>
            <a:ext cx="1112492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presentation draws on frameworks and benchmarks from leading authorities in customer experience and workforce analytics.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44" y="2057400"/>
            <a:ext cx="10515337" cy="713184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377" y="2287984"/>
            <a:ext cx="298690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ICMI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83176" y="2312392"/>
            <a:ext cx="819883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International Customer Management Institute — the definitive source for call center benchmarks and best practices.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44" y="2916932"/>
            <a:ext cx="10515337" cy="713184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377" y="3147516"/>
            <a:ext cx="298690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COPC Inc.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176" y="3171924"/>
            <a:ext cx="819883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standard-setter for customer experience operations and performance management.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44" y="3776464"/>
            <a:ext cx="10515337" cy="713184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14377" y="4007048"/>
            <a:ext cx="298690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Zendesk &amp; Talkdesk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83176" y="4031456"/>
            <a:ext cx="819883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Leading CX platforms publishing annual benchmark reports on service level, CSAT, and AHT.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44" y="4635996"/>
            <a:ext cx="10515337" cy="713184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14377" y="4866580"/>
            <a:ext cx="298690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Gartner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83176" y="4890988"/>
            <a:ext cx="819883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and advisory firm covering contact center technology and workforce trends.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44" y="5495528"/>
            <a:ext cx="10515337" cy="713184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14377" y="5726113"/>
            <a:ext cx="298690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HBR &amp; McKinsey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3176" y="5750520"/>
            <a:ext cx="819883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Providing evidence-based insight on customer experience strategy and operational excellence.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865769" y="6520855"/>
            <a:ext cx="115815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Microsoft Office PowerPoint</Application>
  <PresentationFormat>Widescreen</PresentationFormat>
  <Paragraphs>214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Carlito Bold</vt:lpstr>
      <vt:lpstr>Caladea</vt:lpstr>
      <vt:lpstr>Carlito</vt:lpstr>
      <vt:lpstr>Arial</vt:lpstr>
      <vt:lpstr>Caladea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Mostafa Bilal</cp:lastModifiedBy>
  <cp:revision>1</cp:revision>
  <dcterms:created xsi:type="dcterms:W3CDTF">2026-09-21T16:45:42Z</dcterms:created>
  <dcterms:modified xsi:type="dcterms:W3CDTF">2026-09-21T16:45:59Z</dcterms:modified>
</cp:coreProperties>
</file>